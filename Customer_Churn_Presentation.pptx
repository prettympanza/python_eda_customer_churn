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716" autoAdjust="0"/>
  </p:normalViewPr>
  <p:slideViewPr>
    <p:cSldViewPr snapToGrid="0">
      <p:cViewPr varScale="1">
        <p:scale>
          <a:sx n="58" d="100"/>
          <a:sy n="58" d="100"/>
        </p:scale>
        <p:origin x="121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E6BF-C860-A5EC-607C-904A2255E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DFE11-DEEE-975F-2EEE-5586B859F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C3B79-718E-EDFD-D4C7-0DA70C58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E8B7A-9452-214C-CB75-1C9B1EBCA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A4039-C0ED-B380-F0F8-3186BE05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07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C6F0-2D97-6534-7EFE-C31A50F2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E739-C45E-E4F3-CA66-99F1A783A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A1EC5-5B89-1EF6-CBD2-B29CCC4C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3880-CC9D-E746-F99F-3AEE0862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6F0CC-6A27-E0B1-5D14-9EF40267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65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1A92-F1BD-5326-1D2E-4B8D722E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DABE4-CBC1-F88E-5D23-4DE3A4E80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5D169-13E1-773F-DB26-7C1DAC1D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D162C-4BA9-422D-A6A4-4376CAC1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6C2AF-B1A5-DCB3-FCF5-DCE121EE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35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11AB-9E4D-DB4C-2029-075ABE92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97B54-CA62-CB50-5E23-7CA5825FE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600AB-C5C4-8D1D-4288-4D5819049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9984C-9178-0B07-DAFD-3E335B64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91C64-71F9-D927-1D11-EDE3813C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4AD2A-C217-04A8-B04F-36045B80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922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CE58-1076-A105-0443-60734515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B1922-12E9-AA59-A3FA-FD0806B5D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EB40-BBD7-55B0-1B45-D3E647748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15A1F-5495-2D1B-55B6-8DCDF32F3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EC308-F8B4-EBF2-4CD7-945F11E7E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EAC18-0654-8830-379C-97D60CE1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20AFA-280D-0371-5A55-246DB92D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F9ADE4-29B3-63D2-CDB7-239E3291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47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A8B2-7188-0C02-CAAB-85EBAD8B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E8B75-F8BB-2209-264E-12B08E6D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379F6-53F5-BE4E-443B-367718E1C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4CE3A-F5D8-4491-4F92-8671B2CD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98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30F99-478D-164F-F761-E984DDEC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F7A7E-9F77-E8E5-7BA2-45C2E92E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FE102-D487-03E3-D2BE-8EBEC865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07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92E1-4D73-0AFB-EAE0-0D06EB24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3A818-9959-805A-4FC8-30DEF267B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21049-2D8E-E0C9-7A5B-058D7244F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42177-D83D-0A9F-2814-1D2CE550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386D0-0997-6476-BA53-B3E38648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5EADC-D397-0498-6B63-367AE97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658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8D07-653D-6133-9DBB-909B8F08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40FF8-9C87-7F1D-A601-52457B0C8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FE56E-F325-246F-F0B0-5672519CB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A21D1-3066-5CCB-462D-C6A29123E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C934-4724-3BE0-414C-19F88608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E5005-C55A-8E9C-5686-62C44159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61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F098-4A4A-8850-7B85-5FE5F384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A0566-235C-2BB5-7B41-0FED11C21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3658F-7A06-4F19-D0F4-4757EF81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CD088-25D8-BC86-930E-6A83D735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4849B-0102-C82A-989A-0B358328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46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FBACBF-B819-8EE2-326C-5B87DDAE3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BEA9A-1B28-E333-3E4A-C554DE6D9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63725-6C2C-8453-CE4D-C5C220AA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E9B29-2DDF-D806-1283-63DF62B6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DBD2F-92FB-0F3F-0E9D-A8E50F7B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15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90510-93B2-F39A-2126-E852A166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9843E-B449-8680-6256-C3424C0D3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67D4-9A49-F29A-650C-B8EF7FA7C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4CECE-D2EB-42A2-9E13-EB890F903768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1B399-AF78-DDF4-629D-989C55F18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3FB1-2E63-03D3-D7D9-6A5E2DC2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FD1AF-F4DE-4B56-BABE-96B6F61DC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242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06D2-C4F3-39E9-7CC4-23F5390AF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03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Telecom Customer Churn Analysis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E09F1C-393D-81EC-8842-3ADF9C81B0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939" y="276522"/>
            <a:ext cx="11405061" cy="6827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2000" b="1" dirty="0"/>
          </a:p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Objective</a:t>
            </a:r>
            <a:br>
              <a:rPr lang="en-GB" sz="2000" dirty="0"/>
            </a:br>
            <a:r>
              <a:rPr lang="en-GB" sz="2000" dirty="0"/>
              <a:t>Predict customer churn and identify key factors driving customer attrition to support retention strategies.</a:t>
            </a:r>
          </a:p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Key Insights</a:t>
            </a:r>
            <a:br>
              <a:rPr lang="en-GB" sz="2000" dirty="0"/>
            </a:br>
            <a:r>
              <a:rPr lang="en-GB" sz="2000" dirty="0"/>
              <a:t>• Customers with low tenure are more likely to churn</a:t>
            </a:r>
            <a:br>
              <a:rPr lang="en-GB" sz="2000" dirty="0"/>
            </a:br>
            <a:r>
              <a:rPr lang="en-GB" sz="2000" dirty="0"/>
              <a:t>• Month-to-month contracts show the highest churn rates</a:t>
            </a:r>
            <a:br>
              <a:rPr lang="en-GB" sz="2000" dirty="0"/>
            </a:br>
            <a:r>
              <a:rPr lang="en-GB" sz="2000" dirty="0"/>
              <a:t>• Higher monthly charges are associated with increased churn</a:t>
            </a:r>
            <a:br>
              <a:rPr lang="en-GB" sz="2000" dirty="0"/>
            </a:br>
            <a:r>
              <a:rPr lang="en-GB" sz="2000" dirty="0"/>
              <a:t>• Fiber optic users exhibit higher churn compared to other services</a:t>
            </a:r>
          </a:p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Model Overview</a:t>
            </a:r>
            <a:br>
              <a:rPr lang="en-GB" sz="2000" dirty="0"/>
            </a:br>
            <a:r>
              <a:rPr lang="en-GB" sz="2000" dirty="0"/>
              <a:t>• Model: Random Forest Classifier</a:t>
            </a:r>
            <a:br>
              <a:rPr lang="en-GB" sz="2000" dirty="0"/>
            </a:br>
            <a:r>
              <a:rPr lang="en-GB" sz="2000" dirty="0"/>
              <a:t>• Accuracy: ~80%</a:t>
            </a:r>
            <a:br>
              <a:rPr lang="en-GB" sz="2000" dirty="0"/>
            </a:br>
            <a:r>
              <a:rPr lang="en-GB" sz="2000" dirty="0"/>
              <a:t>• ROC-AUC: 0.83</a:t>
            </a:r>
            <a:br>
              <a:rPr lang="en-GB" sz="2000" dirty="0"/>
            </a:br>
            <a:r>
              <a:rPr lang="en-GB" sz="2000" dirty="0"/>
              <a:t>• Improved recall (0.50 → 0.71) after threshold tuning</a:t>
            </a:r>
          </a:p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Business Impact</a:t>
            </a:r>
            <a:br>
              <a:rPr lang="en-GB" sz="2000" dirty="0"/>
            </a:br>
            <a:r>
              <a:rPr lang="en-GB" sz="2000" dirty="0"/>
              <a:t>• Target new customers early to reduce churn</a:t>
            </a:r>
            <a:br>
              <a:rPr lang="en-GB" sz="2000" dirty="0"/>
            </a:br>
            <a:r>
              <a:rPr lang="en-GB" sz="2000" dirty="0"/>
              <a:t>• Promote long-term contracts</a:t>
            </a:r>
            <a:br>
              <a:rPr lang="en-GB" sz="2000" dirty="0"/>
            </a:br>
            <a:r>
              <a:rPr lang="en-GB" sz="2000" dirty="0"/>
              <a:t>• Optimise pricing strategies</a:t>
            </a:r>
            <a:br>
              <a:rPr lang="en-GB" sz="2000" dirty="0"/>
            </a:br>
            <a:r>
              <a:rPr lang="en-GB" sz="2000" dirty="0"/>
              <a:t>• Improve customer support &amp; service experience</a:t>
            </a:r>
          </a:p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Conclusion</a:t>
            </a:r>
            <a:br>
              <a:rPr lang="en-GB" sz="2000" dirty="0"/>
            </a:br>
            <a:r>
              <a:rPr lang="en-GB" sz="2000" dirty="0"/>
              <a:t>Churn is driven by engagement, pricing, and contract type.</a:t>
            </a:r>
            <a:br>
              <a:rPr lang="en-GB" sz="2000" dirty="0"/>
            </a:br>
            <a:r>
              <a:rPr lang="en-GB" sz="2000" dirty="0"/>
              <a:t>The model enables proactive retention strategies to reduce customer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043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Telecom Customer Churn Analysis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3</cp:revision>
  <dcterms:created xsi:type="dcterms:W3CDTF">2026-03-20T06:41:56Z</dcterms:created>
  <dcterms:modified xsi:type="dcterms:W3CDTF">2026-03-20T06:58:02Z</dcterms:modified>
</cp:coreProperties>
</file>